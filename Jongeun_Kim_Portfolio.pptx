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120" y="1554480"/>
            <a:ext cx="291591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102E"/>
                </a:solidFill>
                <a:latin typeface="Montserrat"/>
                <a:ea typeface="Malgun Gothic"/>
              </a:rPr>
              <a:t>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1A1B1F"/>
                </a:solidFill>
                <a:latin typeface="Montserrat"/>
                <a:ea typeface="Malgun Gothic"/>
              </a:rPr>
              <a:t>김종은 </a:t>
            </a:r>
            <a:r>
              <a:rPr sz="4600" b="1">
                <a:solidFill>
                  <a:srgbClr val="1A1B1F"/>
                </a:solidFill>
                <a:latin typeface="Montserrat"/>
                <a:ea typeface="Malgun Gothic"/>
              </a:rPr>
              <a:t>Jongeun 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3464D"/>
                </a:solidFill>
                <a:latin typeface="Montserrat"/>
                <a:ea typeface="Malgun Gothic"/>
              </a:rPr>
              <a:t>AI Engineer · Multimodal AI · VLM ·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3464D"/>
                </a:solidFill>
                <a:latin typeface="Montserrat"/>
                <a:ea typeface="Malgun Gothic"/>
              </a:rPr>
              <a:t>VLM·LLM·비디오 언더스탠딩 — 연구부터 현장 적용까지 멀티모달 AI 개발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3464D"/>
                </a:solidFill>
                <a:latin typeface="Montserrat"/>
                <a:ea typeface="Malgun Gothic"/>
              </a:rPr>
              <a:t>UNIST 인공지능대학원 석사 · 논문 7편 · 특허 7건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572000"/>
            <a:ext cx="6400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75488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GitHub  github.com/joannekim0420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Scholar  PHEuuWoAAAAJ   ·   Email  JongeunKim@r114.com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Montserrat"/>
                <a:ea typeface="Malgun Gothic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소개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01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3464D"/>
                </a:solidFill>
                <a:latin typeface="Montserrat"/>
                <a:ea typeface="Malgun Gothic"/>
              </a:rPr>
              <a:t>홈 AI 에이전트, 엘리베이터 상황 분석, 화재 탐지 등 실환경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3464D"/>
                </a:solidFill>
                <a:latin typeface="Montserrat"/>
                <a:ea typeface="Malgun Gothic"/>
              </a:rPr>
              <a:t>멀티모달 AI 과제를 PoC부터 현장 적용까지 수행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43464D"/>
                </a:solidFill>
                <a:latin typeface="Montserrat"/>
                <a:ea typeface="Malgun Gothic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3464D"/>
                </a:solidFill>
                <a:latin typeface="Montserrat"/>
                <a:ea typeface="Malgun Gothic"/>
              </a:rPr>
              <a:t>UNIST 인공지능대학원 석사 (멀티모달·NLP)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3464D"/>
                </a:solidFill>
                <a:latin typeface="Montserrat"/>
                <a:ea typeface="Malgun Gothic"/>
              </a:rPr>
              <a:t>연구 성과를 논문 7편과 특허 7건으로 권리화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24028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993392"/>
            <a:ext cx="91440" cy="54864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2" y="19202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66B3"/>
                </a:solidFill>
                <a:latin typeface="Montserrat"/>
                <a:ea typeface="Malgun Gothic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23591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3464D"/>
                </a:solidFill>
                <a:latin typeface="Montserrat"/>
                <a:ea typeface="Malgun Gothic"/>
              </a:rPr>
              <a:t>논문 Publications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852928"/>
            <a:ext cx="224028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3017520"/>
            <a:ext cx="914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294436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Montserrat"/>
                <a:ea typeface="Malgun Gothic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3464D"/>
                </a:solidFill>
                <a:latin typeface="Montserrat"/>
                <a:ea typeface="Malgun Gothic"/>
              </a:rPr>
              <a:t>특허 Patents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877056"/>
            <a:ext cx="224028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4041648"/>
            <a:ext cx="9144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2" y="396849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4F46E5"/>
                </a:solidFill>
                <a:latin typeface="Montserrat"/>
                <a:ea typeface="Malgun Gothic"/>
              </a:rPr>
              <a:t>M.S.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44074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3464D"/>
                </a:solidFill>
                <a:latin typeface="Montserrat"/>
                <a:ea typeface="Malgun Gothic"/>
              </a:rPr>
              <a:t>UNIST AI 석사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901184"/>
            <a:ext cx="224028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5065776"/>
            <a:ext cx="9144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2" y="499262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475569"/>
                </a:solidFill>
                <a:latin typeface="Montserrat"/>
                <a:ea typeface="Malgun Gothic"/>
              </a:rPr>
              <a:t>4+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543153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3464D"/>
                </a:solidFill>
                <a:latin typeface="Montserrat"/>
                <a:ea typeface="Malgun Gothic"/>
              </a:rPr>
              <a:t>현장 프로젝트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Montserrat"/>
                <a:ea typeface="Malgun Gothic"/>
              </a:rPr>
              <a:t>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경력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606040" cy="3383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606040" cy="128016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dcl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03411"/>
            <a:ext cx="1965960" cy="5996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35661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B1F"/>
                </a:solidFill>
                <a:latin typeface="Montserrat"/>
                <a:ea typeface="Malgun Gothic"/>
              </a:rPr>
              <a:t>HDC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R&amp;D 센터 AI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Montserrat"/>
                <a:ea typeface="Malgun Gothic"/>
              </a:rPr>
              <a:t>2024.05 ~ 현재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011680"/>
            <a:ext cx="2606040" cy="3383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10712" y="2011680"/>
            <a:ext cx="2606040" cy="128016"/>
          </a:xfrm>
          <a:prstGeom prst="round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n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468880"/>
            <a:ext cx="868679" cy="8686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93592" y="35661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B1F"/>
                </a:solidFill>
                <a:latin typeface="Montserrat"/>
                <a:ea typeface="Malgun Gothic"/>
              </a:rPr>
              <a:t>UNIST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4023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인공지능 석사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48920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2022.08 ~ 2024.08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011680"/>
            <a:ext cx="2606040" cy="3383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2011680"/>
            <a:ext cx="2606040" cy="12801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2468880"/>
            <a:ext cx="868680" cy="868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64224" y="35661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B1F"/>
                </a:solidFill>
                <a:latin typeface="Montserrat"/>
                <a:ea typeface="Malgun Gothic"/>
              </a:rPr>
              <a:t>NC 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023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기계번역데이터팀 인턴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8920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Montserrat"/>
                <a:ea typeface="Malgun Gothic"/>
              </a:rPr>
              <a:t>2021.07 ~ 2022.01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1976" y="2011680"/>
            <a:ext cx="2606040" cy="3383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51976" y="2011680"/>
            <a:ext cx="2606040" cy="128016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angmyu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656" y="2468880"/>
            <a:ext cx="868679" cy="8686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34856" y="35661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B1F"/>
                </a:solidFill>
                <a:latin typeface="Montserrat"/>
                <a:ea typeface="Malgun Gothic"/>
              </a:rPr>
              <a:t>상명대학교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4023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휴먼지능정보공학과 학사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48920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Montserrat"/>
                <a:ea typeface="Malgun Gothic"/>
              </a:rPr>
              <a:t>2017.02 ~ 2022.02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ontserrat"/>
                <a:ea typeface="Malgun Gothic"/>
              </a:rPr>
              <a:t>HDC LABS · 2024.05 ~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VLM·LLM 기반 멀티모달 AI 현장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R&amp;D 센터 AI Lab · AI Engineer — 특허 6건 등록·1건 출원, 국제 학회 논문 4편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088136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109728" cy="1234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9424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B1F"/>
                </a:solidFill>
                <a:latin typeface="Montserrat"/>
                <a:ea typeface="Malgun Gothic"/>
              </a:rPr>
              <a:t>차세대 홈 AI Agent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64D"/>
                </a:solidFill>
                <a:latin typeface="Montserrat"/>
                <a:ea typeface="Malgun Gothic"/>
              </a:rPr>
              <a:t>VideoLLM+LLM 거주자 행동 인식·개인화, 정확도 65%→81%, Jetson NX 4bit 엣지 배포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Montserrat"/>
                <a:ea typeface="Malgun Gothic"/>
              </a:rPr>
              <a:t>2025.06 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5603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3464D"/>
                </a:solidFill>
                <a:latin typeface="Montserrat"/>
                <a:ea typeface="Malgun Gothic"/>
              </a:rPr>
              <a:t>기여도 35%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1088136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109728" cy="1234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21024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B1F"/>
                </a:solidFill>
                <a:latin typeface="Montserrat"/>
                <a:ea typeface="Malgun Gothic"/>
              </a:rPr>
              <a:t>엘리베이터 내부 상황 분석 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4164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64D"/>
                </a:solidFill>
                <a:latin typeface="Montserrat"/>
                <a:ea typeface="Malgun Gothic"/>
              </a:rPr>
              <a:t>VLM 파인튜닝 반려견 탑승 인식 57%→87.5%, 특허 등록, 현대엘리베이터 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21024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Montserrat"/>
                <a:ea typeface="Malgun Gothic"/>
              </a:rPr>
              <a:t>2025.02 – 2025.03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9319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3464D"/>
                </a:solidFill>
                <a:latin typeface="Montserrat"/>
                <a:ea typeface="Malgun Gothic"/>
              </a:rPr>
              <a:t>기여도 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20"/>
            <a:ext cx="1088136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109728" cy="1234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92624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B1F"/>
                </a:solidFill>
                <a:latin typeface="Montserrat"/>
                <a:ea typeface="Malgun Gothic"/>
              </a:rPr>
              <a:t>지하주차장 화재 탐지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1324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64D"/>
                </a:solidFill>
                <a:latin typeface="Montserrat"/>
                <a:ea typeface="Malgun Gothic"/>
              </a:rPr>
              <a:t>YOLO+VLM(Florence2) 통합, 탐지 6.51s→3.03s·Recall 0.835→0.904, ICLR 2025 워크샵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992624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Montserrat"/>
                <a:ea typeface="Malgun Gothic"/>
              </a:rPr>
              <a:t>2024.09 – 2025.04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3035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3464D"/>
                </a:solidFill>
                <a:latin typeface="Montserrat"/>
                <a:ea typeface="Malgun Gothic"/>
              </a:rPr>
              <a:t>기여도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ontserrat"/>
                <a:ea typeface="Malgun Gothic"/>
              </a:rPr>
              <a:t>HDC LABS · 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차세대 홈 AI Agent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2025.06 ~ 진행 중 · 기여도 35% (프로젝트 매니징·데이터·모델링·파이프라인)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04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적용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실제 주거 공간 · 모델하우스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연동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328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카메라·IoT 가전·월패드 (자체 플랫폼)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0837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핵심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0837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VideoLLM 행동·물체·얼굴 인식 + LLM 에이전트 개인화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7530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B1F"/>
                </a:solidFill>
                <a:latin typeface="Montserrat"/>
                <a:ea typeface="Malgun Gothic"/>
              </a:rPr>
              <a:t>주요 성과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0448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단일 라벨 출력 제약·평가 기준 프롬프트 개선으로 행동 분류 정확도 65% → 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Jetson NX 4bit/NF4 탑재, 5초 클립 평균 4.2초 처리로 준실시간 적용 가능성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745736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촬영→라벨링→검증→학습→배포 5단계 자동화 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663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행동 인식 기반 IoT 가전 제어 특허 확보 (KR 10-2971047)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2057400"/>
            <a:ext cx="42976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dc_aiho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012004"/>
            <a:ext cx="4023360" cy="2114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ontserrat"/>
                <a:ea typeface="Malgun Gothic"/>
              </a:rPr>
              <a:t>HDC LABS · 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엘리베이터 내부 상황 분석 PoC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2025.02 – 2025.03 · 기여도 30% (반려견 탑승 인식 모델·알고리즘)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05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적용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엘리베이터 카 내부 상단 모서리 CCTV 시점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핵심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328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VLM 파인튜닝 반려견 탑승 인식 + 목줄 끼임 예방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0837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협업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0837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현대엘리베이터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7530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B1F"/>
                </a:solidFill>
                <a:latin typeface="Montserrat"/>
                <a:ea typeface="Malgun Gothic"/>
              </a:rPr>
              <a:t>주요 성과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0448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반려견 탑승 탐지 정확도 57% → 87.5%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반려견·유사 객체(인형 등) 구분 정확도 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745736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엘리베이터 내 반려동물 탐지 특허 등록 (KR 10-2876730)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663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HDC랩스·HDC현산·현대엘리베이터 업무협약, WACVW 2026 후속 논문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2057400"/>
            <a:ext cx="42976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dc_elev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941143"/>
            <a:ext cx="4023360" cy="2255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ontserrat"/>
                <a:ea typeface="Malgun Gothic"/>
              </a:rPr>
              <a:t>HDC LABS · PROJECT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지하주차장 화재 탐지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2024.09 – 2025.04 · 기여도 40% (VLM 통합 알고리즘·모델 선정)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적용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지하주차장 (전기차 충전구역)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핵심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328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YOLO 기반 연기/불 탐지 + VLM 기반 상황 인식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0837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협업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0837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수호이미지랩스 (CCTV 전문기업)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7530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B1F"/>
                </a:solidFill>
                <a:latin typeface="Montserrat"/>
                <a:ea typeface="Malgun Gothic"/>
              </a:rPr>
              <a:t>주요 성과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0448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최초 화재 탐지 시간 6.51s → 3.03s, Recall 0.835 → 0.904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YOLO+VLM(Florence2) 통합 상황 인식 알고리즘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745736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ICLR 2025 ICBINB 워크샵 논문 게재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663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복합모델 주차장 화재 탐지 특허 등록 (KR 10-2857163)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586984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Montserrat"/>
                <a:ea typeface="Malgun Gothic"/>
              </a:rPr>
              <a:t>•  </a:t>
            </a:r>
            <a:r>
              <a:rPr sz="1150" b="0">
                <a:solidFill>
                  <a:srgbClr val="43464D"/>
                </a:solidFill>
                <a:latin typeface="Montserrat"/>
                <a:ea typeface="Malgun Gothic"/>
              </a:rPr>
              <a:t>광명 센트럴 아이파크 AI CCTV 상용 도입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057400"/>
            <a:ext cx="42976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dc_fire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320272"/>
            <a:ext cx="4023360" cy="1497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66B3"/>
                </a:solidFill>
                <a:latin typeface="Montserrat"/>
                <a:ea typeface="Malgun Gothic"/>
              </a:rPr>
              <a:t>UNIST · 2022.08 – 2024.08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인공지능대학원 석사 — NLP·멀티모달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졸업 논문: Efficient Multilingual Multimodal Fusion via Contrastive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07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088136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9728" cy="9144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6829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B1F"/>
                </a:solidFill>
                <a:latin typeface="Montserrat"/>
                <a:ea typeface="Malgun Gothic"/>
              </a:rPr>
              <a:t>고객 발화 Variation 텍스트 생성 (LG)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생성형 AI 데이터 증강 · AI Judge 정량 평가 95.77% · LG H&amp;A 산학과제 연장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64408"/>
            <a:ext cx="1088136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728" cy="9144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B1F"/>
                </a:solidFill>
                <a:latin typeface="Montserrat"/>
                <a:ea typeface="Malgun Gothic"/>
              </a:rPr>
              <a:t>다국어 멀티모달 융합 (석사 졸업논문)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6732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기계번역 14개 언어 증강 · CLIP+XLM-RoBERTa 대조학습 · KSBE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88536"/>
            <a:ext cx="1088136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88536"/>
            <a:ext cx="109728" cy="9144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1655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B1F"/>
                </a:solidFill>
                <a:latin typeface="Montserrat"/>
                <a:ea typeface="Malgun Gothic"/>
              </a:rPr>
              <a:t>슬로건 자동 생성 (심도컴퍼니)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9145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노이즈 섭동 기반 다양성 제어 생성 · 기존 대비 SOTA · CIKM 2023 1저자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12664"/>
            <a:ext cx="1088136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312664"/>
            <a:ext cx="109728" cy="914400"/>
          </a:xfrm>
          <a:prstGeom prst="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4068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B1F"/>
                </a:solidFill>
                <a:latin typeface="Montserrat"/>
                <a:ea typeface="Malgun Gothic"/>
              </a:rPr>
              <a:t>CVPR'22 LOVEU 챌린지 (Pyler)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81558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영상·스크립트·질의 멀티모달 QA · 평균 Recall +0.075 · 챌린지 2위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Montserrat"/>
                <a:ea typeface="Malgun Gothic"/>
              </a:rPr>
              <a:t>NC SOFT · 2021.07 – 2022.01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다국어 기계 번역 문장 품질 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기계번역데이터팀 인턴 · 기여도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08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64D"/>
                </a:solidFill>
                <a:latin typeface="Montserrat"/>
                <a:ea typeface="Malgun Gothic"/>
              </a:rPr>
              <a:t>원문-번역문 간 의미적 일치도를 수치화하여 사람 평가를 대체·보조하는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64D"/>
                </a:solidFill>
                <a:latin typeface="Montserrat"/>
                <a:ea typeface="Malgun Gothic"/>
              </a:rPr>
              <a:t>자동 평가 방법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Montserrat"/>
                <a:ea typeface="Malgun Gothic"/>
              </a:rPr>
              <a:t>•  </a:t>
            </a: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사전 학습 다국어 문장 인코더로 원문-번역문 쌍을 같은 임베딩 공간에 정렬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1188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Montserrat"/>
                <a:ea typeface="Malgun Gothic"/>
              </a:rPr>
              <a:t>•  </a:t>
            </a: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Cosine Similarity 기반 파인튜닝으로 사람 평가 점수와 상관도 향상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16052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Montserrat"/>
                <a:ea typeface="Malgun Gothic"/>
              </a:rPr>
              <a:t>•  </a:t>
            </a: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기계번역 데이터팀 내부 기술 발표로 공유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057400"/>
            <a:ext cx="42976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c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451770"/>
            <a:ext cx="4023360" cy="12346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Montserrat"/>
                <a:ea typeface="Malgun Gothic"/>
              </a:rPr>
              <a:t>PUBLICATIONS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논문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국제 학회 6편 · 국내 학회 1편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09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02536"/>
            <a:ext cx="1828800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02536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WACVW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29968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From Prompts to Deployment: Auto-Curated Domain-Specific Dataset Generation via Diffusion Models</a:t>
            </a: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   Oral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1828800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ICCVW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33472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Your Super Resolution Model is not Enough for Tackling Real-World Scenarios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9544"/>
            <a:ext cx="1828800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9544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ICLRW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23697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An Integrated YOLO and VLM System for Fire Detection in Enclosed Environments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13048"/>
            <a:ext cx="1828800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13048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SIGGRAPH Asia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840480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OverallNet: Scale-Arbitrary Lightweight SR Model for 360° Panoramic Images</a:t>
            </a: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   Poster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16552"/>
            <a:ext cx="1828800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1655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CIKM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443984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Effective Slogan Generation with Noise Perturbation</a:t>
            </a: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   1저자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0056"/>
            <a:ext cx="1828800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0056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CVPRW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047488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Technical Report for CVPR 2022 LOVEU AQTC Challenge</a:t>
            </a: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   2nd Place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23560"/>
            <a:ext cx="1828800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66B3"/>
                </a:solidFill>
                <a:latin typeface="Montserrat"/>
                <a:ea typeface="Malgun Gothic"/>
              </a:rPr>
              <a:t>KSBE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650992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Contrastive Learning for Efficient Multilingual Multimodal Fusion</a:t>
            </a: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   국내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Montserrat"/>
                <a:ea typeface="Malgun Gothic"/>
              </a:rPr>
              <a:t>PATENTS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특허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64D"/>
                </a:solidFill>
                <a:latin typeface="Montserrat"/>
                <a:ea typeface="Malgun Gothic"/>
              </a:rPr>
              <a:t>등록 6건 · 출원 1건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10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93392"/>
            <a:ext cx="2194560" cy="40233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KR 10-2809119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11680"/>
            <a:ext cx="8412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인공지능 모델 기반 실내 건축 공사 하자 탐지 장치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78608"/>
            <a:ext cx="2194560" cy="40233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KR 10-2857163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96896"/>
            <a:ext cx="8412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인공신경망 복합모델을 이용한 주차장 화재 탐지 방법·시스템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63824"/>
            <a:ext cx="2194560" cy="40233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63824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KR 10-2876730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82112"/>
            <a:ext cx="8412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사용자로그를 고려한 엘리베이터 내부 반려동물 유무 탐지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2194560" cy="40233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KR 10-2910653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767328"/>
            <a:ext cx="8412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인공신경망을 이용한 건설현장 충돌위험 탐지 방법·시스템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34256"/>
            <a:ext cx="2194560" cy="40233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34256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KR 10-2958364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352544"/>
            <a:ext cx="8412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인공신경망을 이용한 공간 점유율 추정 방법·시스템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19472"/>
            <a:ext cx="2194560" cy="40233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8102E"/>
                </a:solidFill>
                <a:latin typeface="Montserrat"/>
                <a:ea typeface="Malgun Gothic"/>
              </a:rPr>
              <a:t>KR 10-2971047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937760"/>
            <a:ext cx="8412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행동인식 기반 IoT 가전기기 제어 방법·시스템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04688"/>
            <a:ext cx="2194560" cy="40233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04688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58696"/>
                </a:solidFill>
                <a:latin typeface="Montserrat"/>
                <a:ea typeface="Malgun Gothic"/>
              </a:rPr>
              <a:t>출원 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522976"/>
            <a:ext cx="8412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B1F"/>
                </a:solidFill>
                <a:latin typeface="Montserrat"/>
                <a:ea typeface="Malgun Gothic"/>
              </a:rPr>
              <a:t>적합성 높은 스타일변환이미지 생성 방법·시스템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Montserrat"/>
                <a:ea typeface="Malgun Gothic"/>
              </a:rPr>
              <a:t>AWARDS &amp;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B1F"/>
                </a:solidFill>
                <a:latin typeface="Montserrat"/>
                <a:ea typeface="Malgun Gothic"/>
              </a:rPr>
              <a:t>수상 · 어학 · 자격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640080" cy="381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58696"/>
                </a:solidFill>
                <a:latin typeface="Montserrat"/>
                <a:ea typeface="Malgun Gothic"/>
              </a:rPr>
              <a:t>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3520440" cy="3291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520440" cy="109728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C8102E"/>
                </a:solidFill>
                <a:latin typeface="Montserrat"/>
                <a:ea typeface="Malgun Gothic"/>
              </a:rPr>
              <a:t>수상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CVPR'22 LOVEU AQTC Challenge — 2nd Place (CVPRW 2022)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교내 영어토론대회 3등 우수상 (2017.11)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03120"/>
            <a:ext cx="3520440" cy="3291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103120"/>
            <a:ext cx="3520440" cy="109728"/>
          </a:xfrm>
          <a:prstGeom prst="roundRect">
            <a:avLst/>
          </a:prstGeom>
          <a:solidFill>
            <a:srgbClr val="006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377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66B3"/>
                </a:solidFill>
                <a:latin typeface="Montserrat"/>
                <a:ea typeface="Malgun Gothic"/>
              </a:rPr>
              <a:t>어학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9718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TOEIC 965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72160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TOEIC Speaking 170 (Advanced Low)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103120"/>
            <a:ext cx="3520440" cy="3291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4E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2103120"/>
            <a:ext cx="3520440" cy="1097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23774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  <a:latin typeface="Montserrat"/>
                <a:ea typeface="Malgun Gothic"/>
              </a:rPr>
              <a:t>자격증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9718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정보처리기사 (2022.06.02)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72160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64D"/>
                </a:solidFill>
                <a:latin typeface="Montserrat"/>
                <a:ea typeface="Malgun Gothic"/>
              </a:rPr>
              <a:t>자격번호 21201071305E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ontserrat"/>
                <a:ea typeface="Malgun Gothic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2D6DC"/>
                </a:solidFill>
                <a:latin typeface="Montserrat"/>
                <a:ea typeface="Malgun Gothic"/>
              </a:rPr>
              <a:t>김종은 Jongeun Kim · AI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4BAC4"/>
                </a:solidFill>
                <a:latin typeface="Montserrat"/>
                <a:ea typeface="Malgun Gothic"/>
              </a:rPr>
              <a:t>github.com/joannekim0420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4BAC4"/>
                </a:solidFill>
                <a:latin typeface="Montserrat"/>
                <a:ea typeface="Malgun Gothic"/>
              </a:rPr>
              <a:t>joannekim0420.github.io   ·   JongeunKim@r114.com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